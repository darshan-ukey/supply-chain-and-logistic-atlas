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450000"/>
            <a:ext cx="11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/>
              <a:t>Executive Transformation Summary</a:t>
            </a:r>
            <a:endParaRPr lang="en-US" sz="2800"/>
          </a:p>
        </p:txBody>
      </p:sp>
      <p:sp>
        <p:nvSpPr>
          <p:cNvPr id="3" name="Body"/>
          <p:cNvSpPr txBox="1"/>
          <p:nvPr/>
        </p:nvSpPr>
        <p:spPr>
          <a:xfrm>
            <a:off x="700000" y="1450000"/>
            <a:ext cx="10600000" cy="4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0"/>
              <a:t>Module: Road LTL</a:t>
            </a:r>
            <a:endParaRPr lang="en-US" sz="1500"/>
          </a:p>
          <a:p>
            <a:r>
              <a:rPr lang="en-US" sz="1500" b="0"/>
              <a:t>Workspace: Test</a:t>
            </a:r>
            <a:endParaRPr lang="en-US" sz="1500"/>
          </a:p>
          <a:p>
            <a:r>
              <a:rPr lang="en-US" sz="1500" b="0"/>
              <a:t>Diagnostic signals: 3</a:t>
            </a:r>
            <a:endParaRPr lang="en-US" sz="1500"/>
          </a:p>
          <a:p>
            <a:r>
              <a:rPr lang="en-US" sz="1500" b="0"/>
              <a:t>Client-validated issues: 1</a:t>
            </a:r>
            <a:endParaRPr lang="en-US" sz="1500"/>
          </a:p>
          <a:p>
            <a:r>
              <a:rPr lang="en-US" sz="1500" b="0"/>
              <a:t>Opportunities: 1</a:t>
            </a:r>
            <a:endParaRPr lang="en-US" sz="1500"/>
          </a:p>
          <a:p>
            <a:r>
              <a:rPr lang="en-US" sz="1500" b="0"/>
              <a:t>Prioritized: 1</a:t>
            </a:r>
            <a:endParaRPr lang="en-US" sz="1500"/>
          </a:p>
          <a:p>
            <a:r>
              <a:rPr lang="en-US" sz="1500" b="0"/>
              <a:t>Pilot / Implemented / Measured: 0 / 0 / 0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450000"/>
            <a:ext cx="11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/>
              <a:t>Opportunity Portfolio</a:t>
            </a:r>
            <a:endParaRPr lang="en-US" sz="2800"/>
          </a:p>
        </p:txBody>
      </p:sp>
      <p:sp>
        <p:nvSpPr>
          <p:cNvPr id="3" name="Body"/>
          <p:cNvSpPr txBox="1"/>
          <p:nvPr/>
        </p:nvSpPr>
        <p:spPr>
          <a:xfrm>
            <a:off x="700000" y="1450000"/>
            <a:ext cx="10600000" cy="4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0"/>
              <a:t>OP-1: Test opportunity — PRIORITIZED — HIGH</a:t>
            </a:r>
            <a:endParaRPr lang="en-US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0000" y="450000"/>
            <a:ext cx="11000000" cy="8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2800" b="1"/>
              <a:t>Governance Boundary</a:t>
            </a:r>
            <a:endParaRPr lang="en-US" sz="2800"/>
          </a:p>
        </p:txBody>
      </p:sp>
      <p:sp>
        <p:nvSpPr>
          <p:cNvPr id="3" name="Body"/>
          <p:cNvSpPr txBox="1"/>
          <p:nvPr/>
        </p:nvSpPr>
        <p:spPr>
          <a:xfrm>
            <a:off x="700000" y="1450000"/>
            <a:ext cx="10600000" cy="4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500" b="0"/>
              <a:t>Atlas Reference, client evidence, consultant hypotheses and TO-BE proposals remain structurally separate.</a:t>
            </a:r>
            <a:endParaRPr lang="en-US" sz="1500"/>
          </a:p>
          <a:p>
            <a:r>
              <a:rPr lang="en-US" sz="1500" b="0"/>
              <a:t>No ROI, savings or measured benefit is inferred without explicit evidence.</a:t>
            </a:r>
            <a:endParaRPr lang="en-US" sz="1500"/>
          </a:p>
          <a:p>
            <a:r>
              <a:rPr lang="en-US" sz="1500" b="0"/>
              <a:t>Difference from Atlas is not automatically a gap.</a:t>
            </a:r>
            <a:endParaRPr lang="en-US" sz="1500"/>
          </a:p>
          <a:p>
            <a:r>
              <a:rPr lang="en-US" sz="1500" b="0"/>
              <a:t>Diagnostic signal is not automatically a validated issue.</a:t>
            </a:r>
            <a:endParaRPr lang="en-US" sz="1500"/>
          </a:p>
        </p:txBody>
      </p:sp>
    </p:spTree>
  </p:cSld>
  <p:clrMapOvr>
    <a:masterClrMapping/>
  </p:clrMapOvr>
</p:sld>
</file>